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11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88920"/>
            <a:ext cx="1783080" cy="4572000"/>
          </a:xfrm>
          <a:prstGeom prst="roundRect">
            <a:avLst>
              <a:gd name="adj" fmla="val 49744"/>
            </a:avLst>
          </a:prstGeom>
          <a:solidFill>
            <a:srgbClr val="EAEAEA">
              <a:alpha val="88000"/>
            </a:srgbClr>
          </a:solidFill>
          <a:ln/>
        </p:spPr>
      </p:sp>
      <p:pic>
        <p:nvPicPr>
          <p:cNvPr id="3" name="Image 0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384048"/>
            <a:ext cx="2331720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온디바이스 AI 음성인식 ‘WordSense’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41248" y="3310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9D4E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초소형 KWS 엔진 &amp; 스마트 솔루션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41248" y="53035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감바랩스 주식회사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Gamba Labs Co., Ltd. · Proprietary Technology &amp; Smart Solutions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1371600" y="1965960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6" name="Text 2"/>
          <p:cNvSpPr/>
          <p:nvPr/>
        </p:nvSpPr>
        <p:spPr>
          <a:xfrm>
            <a:off x="13716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167128" y="19659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Executive Summary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1371600" y="2990088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9" name="Text 5"/>
          <p:cNvSpPr/>
          <p:nvPr/>
        </p:nvSpPr>
        <p:spPr>
          <a:xfrm>
            <a:off x="137160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167128" y="2990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기술 개요 : KWS란?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1371600" y="4014216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12" name="Text 8"/>
          <p:cNvSpPr/>
          <p:nvPr/>
        </p:nvSpPr>
        <p:spPr>
          <a:xfrm>
            <a:off x="13716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167128" y="40142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WordSense 핵심 성능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1371600" y="5038344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15" name="Text 11"/>
          <p:cNvSpPr/>
          <p:nvPr/>
        </p:nvSpPr>
        <p:spPr>
          <a:xfrm>
            <a:off x="137160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167128" y="50383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스마트홈 솔루션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6766560" y="1965960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62088" y="19659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화자 인증 보안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766560" y="2990088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21" name="Text 17"/>
          <p:cNvSpPr/>
          <p:nvPr/>
        </p:nvSpPr>
        <p:spPr>
          <a:xfrm>
            <a:off x="676656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62088" y="2990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주요 응용 데모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766560" y="4014216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562088" y="40142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상용화 · 에코라이트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766560" y="5038344"/>
            <a:ext cx="566928" cy="566928"/>
          </a:xfrm>
          <a:prstGeom prst="ellipse">
            <a:avLst/>
          </a:prstGeom>
          <a:solidFill>
            <a:srgbClr val="0038A3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562088" y="50383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핵심 경쟁력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감바랩스가 이끄는 차세대 온디바이스 AI 음성인식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600200"/>
            <a:ext cx="51389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43000" y="1847088"/>
            <a:ext cx="822960" cy="82296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8" name="Image 2" descr="assets/ic/micro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510" y="2044598"/>
            <a:ext cx="427939" cy="4279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48840" y="1856232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초소형 KWS 엔진 ‘WordSense’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234440" y="280720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연결 없이 단말에서 100% 동작. 수십~수백 KB 초경량으로 초소형 MCU에도 구동.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464808" y="1600200"/>
            <a:ext cx="51389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830568" y="1847088"/>
            <a:ext cx="822960" cy="82296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3" name="Image 3" descr="assets/ic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078" y="2044598"/>
            <a:ext cx="427939" cy="4279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36408" y="1856232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소음 강인성 &amp; 고신뢰성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922008" y="280720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SNR -20dB 악조건에서도 90%+ 인식률. 100시간 지속 테스트 오인식 0건 달성.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77240" y="4069080"/>
            <a:ext cx="51389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1143000" y="4315968"/>
            <a:ext cx="822960" cy="82296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8" name="Image 4" descr="assets/ic/user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510" y="4513478"/>
            <a:ext cx="427939" cy="42793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148840" y="4325112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스마트홈 &amp; 화자 인식 보안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234440" y="527608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 말하는지’까지 판별. 등록된 화자에만 반응해 보안·사생활 보호 극대화.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464808" y="4069080"/>
            <a:ext cx="51389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830568" y="4315968"/>
            <a:ext cx="822960" cy="82296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23" name="Image 5" descr="assets/ic/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078" y="4513478"/>
            <a:ext cx="427939" cy="42793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836408" y="4325112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실전 검증 &amp; 상용화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6922008" y="527608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서울리빙디자인페어 X-Lab 조명 ‘에코라이트’에 탑재·전시 완료.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기술 개요 : Keyword Spotting (KWS)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음성 스트림에서 특정 명령어·소리를 빠르고 정확하게 감지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737360"/>
            <a:ext cx="2651760" cy="1417320"/>
          </a:xfrm>
          <a:prstGeom prst="roundRect">
            <a:avLst>
              <a:gd name="adj" fmla="val 9032"/>
            </a:avLst>
          </a:prstGeom>
          <a:solidFill>
            <a:srgbClr val="153C7E"/>
          </a:solidFill>
          <a:ln/>
        </p:spPr>
      </p:sp>
      <p:sp>
        <p:nvSpPr>
          <p:cNvPr id="7" name="Shape 3"/>
          <p:cNvSpPr/>
          <p:nvPr/>
        </p:nvSpPr>
        <p:spPr>
          <a:xfrm>
            <a:off x="1746504" y="1856232"/>
            <a:ext cx="713232" cy="713232"/>
          </a:xfrm>
          <a:prstGeom prst="ellipse">
            <a:avLst/>
          </a:prstGeom>
          <a:solidFill>
            <a:srgbClr val="2E62A8"/>
          </a:solidFill>
          <a:ln/>
        </p:spPr>
      </p:sp>
      <p:pic>
        <p:nvPicPr>
          <p:cNvPr id="8" name="Image 2" descr="assets/ic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680" y="2027408"/>
            <a:ext cx="370881" cy="3708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2578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음성 스트림</a:t>
            </a:r>
            <a:endParaRPr lang="en-US" sz="13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비언어적 소리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3474720" y="2290572"/>
            <a:ext cx="457200" cy="310896"/>
          </a:xfrm>
          <a:prstGeom prst="rightArrow">
            <a:avLst/>
          </a:prstGeom>
          <a:solidFill>
            <a:srgbClr val="9BB4CC"/>
          </a:solidFill>
          <a:ln/>
        </p:spPr>
      </p:sp>
      <p:sp>
        <p:nvSpPr>
          <p:cNvPr id="11" name="Shape 6"/>
          <p:cNvSpPr/>
          <p:nvPr/>
        </p:nvSpPr>
        <p:spPr>
          <a:xfrm>
            <a:off x="3977640" y="1737360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970AE"/>
          </a:solidFill>
          <a:ln/>
        </p:spPr>
      </p:sp>
      <p:sp>
        <p:nvSpPr>
          <p:cNvPr id="12" name="Shape 7"/>
          <p:cNvSpPr/>
          <p:nvPr/>
        </p:nvSpPr>
        <p:spPr>
          <a:xfrm>
            <a:off x="5221224" y="1856232"/>
            <a:ext cx="713232" cy="713232"/>
          </a:xfrm>
          <a:prstGeom prst="ellipse">
            <a:avLst/>
          </a:prstGeom>
          <a:solidFill>
            <a:srgbClr val="2E62A8"/>
          </a:solidFill>
          <a:ln/>
        </p:spPr>
      </p:sp>
      <p:pic>
        <p:nvPicPr>
          <p:cNvPr id="13" name="Image 3" descr="assets/ic/micro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2400" y="2027408"/>
            <a:ext cx="370881" cy="3708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69080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감바랩스 KWS 엔진</a:t>
            </a:r>
            <a:endParaRPr lang="en-US" sz="13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파형 분석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223760" y="2290572"/>
            <a:ext cx="457200" cy="310896"/>
          </a:xfrm>
          <a:prstGeom prst="rightArrow">
            <a:avLst/>
          </a:prstGeom>
          <a:solidFill>
            <a:srgbClr val="9BB4CC"/>
          </a:solidFill>
          <a:ln/>
        </p:spPr>
      </p:sp>
      <p:sp>
        <p:nvSpPr>
          <p:cNvPr id="16" name="Shape 10"/>
          <p:cNvSpPr/>
          <p:nvPr/>
        </p:nvSpPr>
        <p:spPr>
          <a:xfrm>
            <a:off x="7726680" y="1737360"/>
            <a:ext cx="2651760" cy="1417320"/>
          </a:xfrm>
          <a:prstGeom prst="roundRect">
            <a:avLst>
              <a:gd name="adj" fmla="val 9032"/>
            </a:avLst>
          </a:prstGeom>
          <a:solidFill>
            <a:srgbClr val="153C7E"/>
          </a:solidFill>
          <a:ln/>
        </p:spPr>
      </p:sp>
      <p:sp>
        <p:nvSpPr>
          <p:cNvPr id="17" name="Shape 11"/>
          <p:cNvSpPr/>
          <p:nvPr/>
        </p:nvSpPr>
        <p:spPr>
          <a:xfrm>
            <a:off x="8695944" y="1856232"/>
            <a:ext cx="713232" cy="713232"/>
          </a:xfrm>
          <a:prstGeom prst="ellipse">
            <a:avLst/>
          </a:prstGeom>
          <a:solidFill>
            <a:srgbClr val="2E62A8"/>
          </a:solidFill>
          <a:ln/>
        </p:spPr>
      </p:sp>
      <p:pic>
        <p:nvPicPr>
          <p:cNvPr id="18" name="Image 4" descr="assets/ic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7120" y="2027408"/>
            <a:ext cx="370881" cy="37088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818120" y="2578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단어 · 비명</a:t>
            </a:r>
            <a:endParaRPr lang="en-US" sz="13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박수 감지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777240" y="3703320"/>
            <a:ext cx="51389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1120140" y="4114800"/>
            <a:ext cx="777240" cy="777240"/>
          </a:xfrm>
          <a:prstGeom prst="ellipse">
            <a:avLst/>
          </a:prstGeom>
          <a:solidFill>
            <a:srgbClr val="123979"/>
          </a:solidFill>
          <a:ln/>
        </p:spPr>
      </p:sp>
      <p:pic>
        <p:nvPicPr>
          <p:cNvPr id="22" name="Image 5" descr="assets/ic/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6678" y="4301338"/>
            <a:ext cx="404165" cy="4041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057400" y="397764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언어 독립성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2057400" y="44348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구조에 종속되지 않아 글로벌 파이프라인 확장에 용이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6464808" y="3703320"/>
            <a:ext cx="51389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807708" y="4114800"/>
            <a:ext cx="777240" cy="777240"/>
          </a:xfrm>
          <a:prstGeom prst="ellipse">
            <a:avLst/>
          </a:prstGeom>
          <a:solidFill>
            <a:srgbClr val="123979"/>
          </a:solidFill>
          <a:ln/>
        </p:spPr>
      </p:sp>
      <p:pic>
        <p:nvPicPr>
          <p:cNvPr id="27" name="Image 6" descr="assets/ic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4246" y="4301338"/>
            <a:ext cx="404165" cy="40416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744968" y="397764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비언어적 음향 감지</a:t>
            </a:r>
            <a:endParaRPr lang="en-US" sz="1700" dirty="0"/>
          </a:p>
        </p:txBody>
      </p:sp>
      <p:sp>
        <p:nvSpPr>
          <p:cNvPr id="29" name="Text 20"/>
          <p:cNvSpPr/>
          <p:nvPr/>
        </p:nvSpPr>
        <p:spPr>
          <a:xfrm>
            <a:off x="7744968" y="44348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비명·기침·박수 등 비상·환경 음향까지 감지 가능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WordSense 핵심 성능 및 이식성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어떠한 제약 조건에서도 뛰어난 인식률과 구동성 보장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600200"/>
            <a:ext cx="513892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143000" y="192024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SNR -20dB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1161288" y="2770632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소음 환경 강인성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61288" y="317296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속에서도 90%+ 인식률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64808" y="1600200"/>
            <a:ext cx="513892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830568" y="192024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수백 KB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6848856" y="2770632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초경량 이식성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48856" y="317296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초소형 MCU에 직접 탑재 가능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4069080"/>
            <a:ext cx="513892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143000" y="438912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오인식 0건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1161288" y="5239512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극강의 신뢰성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61288" y="564184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100시간 테스트 오동작 없음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64808" y="4069080"/>
            <a:ext cx="513892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30568" y="438912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Zero Latency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6848856" y="5239512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온디바이스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48856" y="564184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초저전력 · 인터넷 연결 불필요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솔루션 1 · AI 음성인식 스마트홈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알고 반응하는 똑똑하고 편리한 주거 공간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691640"/>
            <a:ext cx="5669280" cy="1874520"/>
          </a:xfrm>
          <a:prstGeom prst="roundRect">
            <a:avLst>
              <a:gd name="adj" fmla="val 6829"/>
            </a:avLst>
          </a:prstGeom>
          <a:solidFill>
            <a:srgbClr val="1970AE"/>
          </a:solidFill>
          <a:ln/>
        </p:spPr>
      </p:sp>
      <p:sp>
        <p:nvSpPr>
          <p:cNvPr id="7" name="Text 3"/>
          <p:cNvSpPr/>
          <p:nvPr/>
        </p:nvSpPr>
        <p:spPr>
          <a:xfrm>
            <a:off x="1051560" y="1691640"/>
            <a:ext cx="5120640" cy="1874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화자 맞춤형 기기 제어</a:t>
            </a:r>
            <a:endParaRPr lang="en-US" sz="1800" dirty="0"/>
          </a:p>
          <a:p>
            <a:pPr marL="177800" indent="-1778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사용자별 음성 특성을 파악한 개인화 명령 수행</a:t>
            </a:r>
            <a:endParaRPr lang="en-US" sz="1800" dirty="0"/>
          </a:p>
          <a:p>
            <a:pPr marL="177800" indent="-1778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조명·난방·가전 등 스마트홈 인프라와 원활한 연동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77240" y="3794760"/>
            <a:ext cx="5669280" cy="1874520"/>
          </a:xfrm>
          <a:prstGeom prst="roundRect">
            <a:avLst>
              <a:gd name="adj" fmla="val 6829"/>
            </a:avLst>
          </a:prstGeom>
          <a:solidFill>
            <a:srgbClr val="153C7E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3794760"/>
            <a:ext cx="5120640" cy="1874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Hands-Free 사용자 경험</a:t>
            </a:r>
            <a:endParaRPr lang="en-US" sz="1800" dirty="0"/>
          </a:p>
          <a:p>
            <a:pPr marL="177800" indent="-1778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터치·리모컨 없이 음성만으로 공간 전체 제어</a:t>
            </a:r>
            <a:endParaRPr lang="en-US" sz="1800" dirty="0"/>
          </a:p>
          <a:p>
            <a:pPr marL="177800" indent="-1778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편의성과 안전성 대폭 강화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12280" y="1691640"/>
            <a:ext cx="4617720" cy="3977640"/>
          </a:xfrm>
          <a:prstGeom prst="roundRect">
            <a:avLst>
              <a:gd name="adj" fmla="val 3678"/>
            </a:avLst>
          </a:prstGeom>
          <a:solidFill>
            <a:srgbClr val="123979"/>
          </a:solidFill>
          <a:ln/>
        </p:spPr>
      </p:sp>
      <p:sp>
        <p:nvSpPr>
          <p:cNvPr id="11" name="Shape 7"/>
          <p:cNvSpPr/>
          <p:nvPr/>
        </p:nvSpPr>
        <p:spPr>
          <a:xfrm>
            <a:off x="8339328" y="2468880"/>
            <a:ext cx="1554480" cy="155448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2" name="Image 2" descr="assets/ic/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403" y="2841955"/>
            <a:ext cx="808330" cy="808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4343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Smart Home Control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812280" y="4800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Voice-First Living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솔루션 2 · AI 화자 인증 보안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사용자만을 위한 철저한 보안 및 사생활 보호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828800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153C7E"/>
          </a:solidFill>
          <a:ln/>
        </p:spPr>
      </p:sp>
      <p:sp>
        <p:nvSpPr>
          <p:cNvPr id="7" name="Shape 3"/>
          <p:cNvSpPr/>
          <p:nvPr/>
        </p:nvSpPr>
        <p:spPr>
          <a:xfrm>
            <a:off x="1042416" y="2071116"/>
            <a:ext cx="566928" cy="566928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8" name="Image 2" descr="assets/ic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479" y="2207179"/>
            <a:ext cx="294803" cy="2948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91640" y="18288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음성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154680" y="2199132"/>
            <a:ext cx="457200" cy="310896"/>
          </a:xfrm>
          <a:prstGeom prst="rightArrow">
            <a:avLst/>
          </a:prstGeom>
          <a:solidFill>
            <a:srgbClr val="9BB4CC"/>
          </a:solidFill>
          <a:ln/>
        </p:spPr>
      </p:sp>
      <p:sp>
        <p:nvSpPr>
          <p:cNvPr id="11" name="Shape 6"/>
          <p:cNvSpPr/>
          <p:nvPr/>
        </p:nvSpPr>
        <p:spPr>
          <a:xfrm>
            <a:off x="3703320" y="182880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1970AE"/>
          </a:solidFill>
          <a:ln/>
        </p:spPr>
      </p:sp>
      <p:sp>
        <p:nvSpPr>
          <p:cNvPr id="12" name="Shape 7"/>
          <p:cNvSpPr/>
          <p:nvPr/>
        </p:nvSpPr>
        <p:spPr>
          <a:xfrm>
            <a:off x="4014216" y="2071116"/>
            <a:ext cx="566928" cy="566928"/>
          </a:xfrm>
          <a:prstGeom prst="ellipse">
            <a:avLst/>
          </a:prstGeom>
          <a:solidFill>
            <a:srgbClr val="153C7E"/>
          </a:solidFill>
          <a:ln/>
        </p:spPr>
      </p:sp>
      <p:pic>
        <p:nvPicPr>
          <p:cNvPr id="13" name="Image 3" descr="assets/ic/user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0279" y="2207179"/>
            <a:ext cx="294803" cy="294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1828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WordSense</a:t>
            </a:r>
            <a:endParaRPr lang="en-US" sz="13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화자 인식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537960" y="1920240"/>
            <a:ext cx="457200" cy="310896"/>
          </a:xfrm>
          <a:prstGeom prst="rightArrow">
            <a:avLst/>
          </a:prstGeom>
          <a:solidFill>
            <a:srgbClr val="9BB4CC"/>
          </a:solidFill>
          <a:ln/>
        </p:spPr>
      </p:sp>
      <p:sp>
        <p:nvSpPr>
          <p:cNvPr id="16" name="Shape 10"/>
          <p:cNvSpPr/>
          <p:nvPr/>
        </p:nvSpPr>
        <p:spPr>
          <a:xfrm>
            <a:off x="6537960" y="2834640"/>
            <a:ext cx="457200" cy="310896"/>
          </a:xfrm>
          <a:prstGeom prst="rightArrow">
            <a:avLst/>
          </a:prstGeom>
          <a:solidFill>
            <a:srgbClr val="9BB4CC"/>
          </a:solidFill>
          <a:ln/>
        </p:spPr>
      </p:sp>
      <p:sp>
        <p:nvSpPr>
          <p:cNvPr id="17" name="Shape 11"/>
          <p:cNvSpPr/>
          <p:nvPr/>
        </p:nvSpPr>
        <p:spPr>
          <a:xfrm>
            <a:off x="7132320" y="1508760"/>
            <a:ext cx="4297680" cy="914400"/>
          </a:xfrm>
          <a:prstGeom prst="roundRect">
            <a:avLst>
              <a:gd name="adj" fmla="val 14000"/>
            </a:avLst>
          </a:prstGeom>
          <a:solidFill>
            <a:srgbClr val="1F7A4D"/>
          </a:solidFill>
          <a:ln/>
        </p:spPr>
      </p:sp>
      <p:sp>
        <p:nvSpPr>
          <p:cNvPr id="18" name="Shape 12"/>
          <p:cNvSpPr/>
          <p:nvPr/>
        </p:nvSpPr>
        <p:spPr>
          <a:xfrm>
            <a:off x="7406640" y="1691640"/>
            <a:ext cx="548640" cy="548640"/>
          </a:xfrm>
          <a:prstGeom prst="ellipse">
            <a:avLst/>
          </a:prstGeom>
          <a:solidFill>
            <a:srgbClr val="14603A"/>
          </a:solidFill>
          <a:ln/>
        </p:spPr>
      </p:sp>
      <p:pic>
        <p:nvPicPr>
          <p:cNvPr id="19" name="Image 4" descr="assets/ic/do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314" y="182331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2440" y="15087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화자 → 기기 동작 / 문 열림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132320" y="2743200"/>
            <a:ext cx="4297680" cy="914400"/>
          </a:xfrm>
          <a:prstGeom prst="roundRect">
            <a:avLst>
              <a:gd name="adj" fmla="val 14000"/>
            </a:avLst>
          </a:prstGeom>
          <a:solidFill>
            <a:srgbClr val="9E2B2B"/>
          </a:solidFill>
          <a:ln/>
        </p:spPr>
      </p:sp>
      <p:sp>
        <p:nvSpPr>
          <p:cNvPr id="22" name="Shape 15"/>
          <p:cNvSpPr/>
          <p:nvPr/>
        </p:nvSpPr>
        <p:spPr>
          <a:xfrm>
            <a:off x="7406640" y="2926080"/>
            <a:ext cx="548640" cy="548640"/>
          </a:xfrm>
          <a:prstGeom prst="ellipse">
            <a:avLst/>
          </a:prstGeom>
          <a:solidFill>
            <a:srgbClr val="6E1E1E"/>
          </a:solidFill>
          <a:ln/>
        </p:spPr>
      </p:sp>
      <p:pic>
        <p:nvPicPr>
          <p:cNvPr id="23" name="Image 5" descr="assets/ic/b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8314" y="3057754"/>
            <a:ext cx="285293" cy="28529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92440" y="27432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미등록 화자 → 차단 및 보안 유지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777240" y="4114800"/>
            <a:ext cx="10652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1051560" y="4315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9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사생활 · 데이터 보호   </a:t>
            </a:r>
            <a:r>
              <a:rPr lang="en-US" sz="14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전송 없이 단말 내부에서 화자 인증 → 개인 음성 데이터 유출 차단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05156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9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분야   </a:t>
            </a:r>
            <a:r>
              <a:rPr lang="en-US" sz="14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도어록 · 금고 · 보안 제어 장치 · 개인화 가전기기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주요 응용 데모 (Application Cases)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스마트 디바이스 제품군으로의 무한한 확장성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6916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874520" y="2125980"/>
            <a:ext cx="1234440" cy="123444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8" name="Image 2" descr="assets/ic/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786" y="2422246"/>
            <a:ext cx="641909" cy="6419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음성 제어 프리젠터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143000" y="4206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중 리모컨 없이 음성 명령만으로 슬라이드 넘김·제어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663440" y="16916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760720" y="2125980"/>
            <a:ext cx="1234440" cy="123444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3" name="Image 3" descr="assets/ic/f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86" y="2422246"/>
            <a:ext cx="641909" cy="6419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9204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음성 제어 리모컨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029200" y="4206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가전에 초소형 모듈 탑재, 버튼 조작 없는 음성 제어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549640" y="16916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646920" y="2125980"/>
            <a:ext cx="1234440" cy="123444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8" name="Image 4" descr="assets/ic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3186" y="2422246"/>
            <a:ext cx="641909" cy="6419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7824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긴급 명령어 인식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8915400" y="4206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“살려주세요”·비명·박수 등 긴급 음향 감지 및 즉각 알림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상용화 &amp; 실전 검증 · 에코라이트(EchoLight)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5800" y="106070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서울리빙디자인페어 성공적 전시 성료 및 상용화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7240" y="1691640"/>
            <a:ext cx="55778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05156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전시 개요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606040" y="2011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코엑스 서울리빙디자인페어 (02.25~03.01)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5156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협업 제품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606040" y="3154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X-Lab 조명 브랜드 ‘에코라이트(EchoLight)’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51560" y="4297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0A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기술 탑재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606040" y="4297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감바랩스 WordSense 초소형 KWS 음성인식 엔진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29400" y="1691640"/>
            <a:ext cx="4800600" cy="3977640"/>
          </a:xfrm>
          <a:prstGeom prst="roundRect">
            <a:avLst>
              <a:gd name="adj" fmla="val 3678"/>
            </a:avLst>
          </a:prstGeom>
          <a:solidFill>
            <a:srgbClr val="123979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9328" y="2194560"/>
            <a:ext cx="1371600" cy="1371600"/>
          </a:xfrm>
          <a:prstGeom prst="ellipse">
            <a:avLst/>
          </a:prstGeom>
          <a:solidFill>
            <a:srgbClr val="E6A817"/>
          </a:solidFill>
          <a:ln/>
        </p:spPr>
      </p:sp>
      <p:pic>
        <p:nvPicPr>
          <p:cNvPr id="15" name="Image 2" descr="assets/ic/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52374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EchoLight × WordSense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040880" y="42976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× 온디바이스 음성제어의 완성도 높은 시너지</a:t>
            </a:r>
            <a:endParaRPr lang="en-US" sz="13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관람객 호응 · 현장 경험 제공</a:t>
            </a:r>
            <a:endParaRPr lang="en-US" sz="1300" dirty="0"/>
          </a:p>
          <a:p>
            <a:pPr marL="152400" indent="-152400" algn="l">
              <a:buSzPct val="100000"/>
              <a:buChar char="•"/>
            </a:pPr>
            <a:r>
              <a:rPr lang="en-US" sz="13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전시 성료 후 공식 예약 구매 진행 (echolight.kr)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assets/ic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"/>
            <a:ext cx="658368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핵심 경쟁력 · Why Gamba Labs?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777240" y="178308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143000" y="1943100"/>
            <a:ext cx="914400" cy="91440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7" name="Image 2" descr="assets/ic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" y="2162556"/>
            <a:ext cx="475488" cy="4754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68880" y="192938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H/W 단가 절감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2468880" y="24048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고성능 AP/NPU 없이 기존 저가형 MCU 환경에 바로 이식 가능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777240" y="320040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143000" y="3360420"/>
            <a:ext cx="914400" cy="91440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2" name="Image 3" descr="assets/ic/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456" y="3579876"/>
            <a:ext cx="475488" cy="475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68880" y="334670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인터넷 독립성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2468880" y="38221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장애 시에도 100% 정상 작동하는 On-Device AI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777240" y="461772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88900" dist="38100" dir="5400000" algn="bl" rotWithShape="0">
              <a:srgbClr val="AAB2C0">
                <a:alpha val="3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1143000" y="4777740"/>
            <a:ext cx="914400" cy="914400"/>
          </a:xfrm>
          <a:prstGeom prst="ellipse">
            <a:avLst/>
          </a:prstGeom>
          <a:solidFill>
            <a:srgbClr val="1970AE"/>
          </a:solidFill>
          <a:ln/>
        </p:spPr>
      </p:sp>
      <p:pic>
        <p:nvPicPr>
          <p:cNvPr id="17" name="Image 4" descr="assets/ic/slid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456" y="4997196"/>
            <a:ext cx="475488" cy="4754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468880" y="476402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맞춤형 튜닝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2468880" y="523951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니즈에 맞춘 비언어적 소리·전용 명령어 모델 커스텀 훈련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331720"/>
            <a:ext cx="1783080" cy="5029200"/>
          </a:xfrm>
          <a:prstGeom prst="roundRect">
            <a:avLst>
              <a:gd name="adj" fmla="val 49744"/>
            </a:avLst>
          </a:prstGeom>
          <a:solidFill>
            <a:srgbClr val="103E90"/>
          </a:solidFill>
          <a:ln/>
        </p:spPr>
      </p:sp>
      <p:pic>
        <p:nvPicPr>
          <p:cNvPr id="3" name="Image 0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457200"/>
            <a:ext cx="224028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48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038A3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41248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Proprietary Technology, Ultimate Result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1248" y="4709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239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 </a:t>
            </a:r>
            <a:r>
              <a:rPr lang="en-US" sz="12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부산광역시 금정구 부산대학로63번길 2, 부산대학교 효원산학협동관 401호
</a:t>
            </a:r>
            <a:r>
              <a:rPr lang="en-US" sz="1250" b="1" dirty="0">
                <a:solidFill>
                  <a:srgbClr val="1239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  </a:t>
            </a:r>
            <a:r>
              <a:rPr lang="en-US" sz="12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용인시 기흥구 기흥로 58-1, 기흥ICT밸리 SK V1 A동 1503호
</a:t>
            </a:r>
            <a:r>
              <a:rPr lang="en-US" sz="1250" b="1" dirty="0">
                <a:solidFill>
                  <a:srgbClr val="1239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 </a:t>
            </a:r>
            <a:r>
              <a:rPr lang="en-US" sz="12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contact@gambalabs.ai      </a:t>
            </a:r>
            <a:r>
              <a:rPr lang="en-US" sz="1250" b="1" dirty="0">
                <a:solidFill>
                  <a:srgbClr val="1239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 </a:t>
            </a:r>
            <a:r>
              <a:rPr lang="en-US" sz="1250" dirty="0">
                <a:solidFill>
                  <a:srgbClr val="495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https://gambalabs.ai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75C67E-F2A8-D116-7E03-9DA6EAE15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674" y="1125429"/>
            <a:ext cx="5357324" cy="55707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FAB3E9-548C-A867-BFC4-1DA5894BA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27" y="2587317"/>
            <a:ext cx="5805316" cy="1954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35E62D-51DD-0D3F-E039-DE54B95B3CD4}"/>
              </a:ext>
            </a:extLst>
          </p:cNvPr>
          <p:cNvSpPr txBox="1"/>
          <p:nvPr/>
        </p:nvSpPr>
        <p:spPr>
          <a:xfrm>
            <a:off x="2027918" y="1582993"/>
            <a:ext cx="2783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넣어준 텍스트</a:t>
            </a:r>
            <a:endParaRPr lang="ko-KR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E20FB-0F7D-6212-94A1-B4BA3DE6294D}"/>
              </a:ext>
            </a:extLst>
          </p:cNvPr>
          <p:cNvSpPr txBox="1"/>
          <p:nvPr/>
        </p:nvSpPr>
        <p:spPr>
          <a:xfrm>
            <a:off x="8143137" y="496043"/>
            <a:ext cx="1962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결과 차트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3504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622</Words>
  <Application>Microsoft Office PowerPoint</Application>
  <PresentationFormat>와이드스크린</PresentationFormat>
  <Paragraphs>120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HY견고딕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가람 지우</cp:lastModifiedBy>
  <cp:revision>4</cp:revision>
  <dcterms:created xsi:type="dcterms:W3CDTF">2026-07-29T06:27:11Z</dcterms:created>
  <dcterms:modified xsi:type="dcterms:W3CDTF">2026-07-30T04:53:24Z</dcterms:modified>
</cp:coreProperties>
</file>